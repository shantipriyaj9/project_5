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TellCo: User Analytics in the Telecom Industry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Engagement, Experience &amp; Satisfaction analysis to decide: buy or not?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|  Data Science project  | 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our approach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188720"/>
            <a:ext cx="292608" cy="292608"/>
          </a:xfrm>
          <a:prstGeom prst="ellipse">
            <a:avLst/>
          </a:prstGeom>
          <a:solidFill>
            <a:srgbClr val="E8573A"/>
          </a:solidFill>
          <a:ln w="12700">
            <a:solidFill>
              <a:srgbClr val="E857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11430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18488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investor wants to buy TellCo, a mobile operator in Pefkakia. Owners shared financials but never analysed their own network data. Is TellCo worth buying and where can profit grow?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188720"/>
            <a:ext cx="292608" cy="29260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239512" y="114300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we had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18488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 of xDR data: 150,000 sessions, 55 columns, 106,856 unique users (MSISDN). Per-app DL/UL bytes, RTT, TCP retransmission, throughput, handset.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Overview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Handsets, app usage, EDA, PCA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560320" y="29260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974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269748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Engagement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Sessions, duration, traffic, k-means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29260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RTT, TCP, throughput, handsets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66560" y="2926080"/>
            <a:ext cx="1920240" cy="1554480"/>
          </a:xfrm>
          <a:prstGeom prst="roundRect">
            <a:avLst>
              <a:gd name="adj" fmla="val 588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037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6903720" y="3520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Satisfaction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6903720" y="3886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regression, SQL, tracking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quality: what we found &amp; fixed</a:t>
            </a:r>
            <a:endParaRPr lang="en-US" sz="2600" dirty="0"/>
          </a:p>
        </p:txBody>
      </p:sp>
      <p:pic>
        <p:nvPicPr>
          <p:cNvPr id="3" name="Image 0" descr="/tmp/work/charts/00_missing_valu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679"/>
            <a:ext cx="4846320" cy="265072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94960" y="1097280"/>
            <a:ext cx="33832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numeric values replaced with the column mean; text (handset) with the mode.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(beyond 3 x IQR) replaced with the mean of the normal values.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"undefined" handsets (6.4%) treated as unknown, not as a brand.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 retransmission is 59-64% missing; mean-imputed as the brief requires.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failed: app volumes add up to ~1.85x the Total DL+UL in every session.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blank row of the file removed. Aggregation key: MSISDN/Number.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1: Top 10 handsets</a:t>
            </a:r>
            <a:endParaRPr lang="en-US" sz="2600" dirty="0"/>
          </a:p>
        </p:txBody>
      </p:sp>
      <p:pic>
        <p:nvPicPr>
          <p:cNvPr id="3" name="Image 0" descr="/tmp/work/charts/01_top10_handse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19976"/>
            <a:ext cx="5120640" cy="278924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669280" y="105156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760720" y="1124712"/>
            <a:ext cx="28346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19,752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157962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on Huawei B528S-23A, #1 device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669280" y="214884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760720" y="2221992"/>
            <a:ext cx="283464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5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10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267690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handsets are Apple iPhones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32918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#1 device is a home 4G router, not a phone.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iPhones (6S, 6) are still huge.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 manufacturers &amp; their top 5 handsets</a:t>
            </a:r>
            <a:endParaRPr lang="en-US" sz="2600" dirty="0"/>
          </a:p>
        </p:txBody>
      </p:sp>
      <p:pic>
        <p:nvPicPr>
          <p:cNvPr id="3" name="Image 0" descr="/tmp/work/charts/03_top5_per_manufactur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8321040" cy="23774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352044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3593592"/>
            <a:ext cx="1737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39.7%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04850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(59,565)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14600" y="352044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06040" y="3593592"/>
            <a:ext cx="1737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5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27.2%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2606040" y="404850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(40,839)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0" y="3520440"/>
            <a:ext cx="1920240" cy="960120"/>
          </a:xfrm>
          <a:prstGeom prst="roundRect">
            <a:avLst>
              <a:gd name="adj" fmla="val 952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3593592"/>
            <a:ext cx="1737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23.0%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404850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(34,423)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356616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Marketing: upgrade offers for iPhone 6/6S users; home-internet bundle for router owners.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1: Who uses the data? Deciles &amp; correlation</a:t>
            </a:r>
            <a:endParaRPr lang="en-US" sz="2600" dirty="0"/>
          </a:p>
        </p:txBody>
      </p:sp>
      <p:pic>
        <p:nvPicPr>
          <p:cNvPr id="3" name="Image 0" descr="/tmp/work/charts/07_decile_total_da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1153"/>
            <a:ext cx="4206240" cy="2298255"/>
          </a:xfrm>
          <a:prstGeom prst="rect">
            <a:avLst/>
          </a:prstGeom>
        </p:spPr>
      </p:pic>
      <p:pic>
        <p:nvPicPr>
          <p:cNvPr id="4" name="Image 1" descr="/tmp/work/charts/08_correlation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479" y="914400"/>
            <a:ext cx="3488722" cy="265176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duration deciles (D6-D10) carry 58.6% of all data; D10 alone is the biggest block (10.4 TB).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volumes correlate only moderately (r about 0.45-0.50): heavy users are heavy on everything, no redundant app.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1: Dimensionality reduction (PCA)</a:t>
            </a:r>
            <a:endParaRPr lang="en-US" sz="2600" dirty="0"/>
          </a:p>
        </p:txBody>
      </p:sp>
      <p:pic>
        <p:nvPicPr>
          <p:cNvPr id="3" name="Image 0" descr="/tmp/work/charts/09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046" y="1005840"/>
            <a:ext cx="7255908" cy="24688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611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= 56.7% of variance with equal loadings on all 7 apps: a general "heavy-user" factor.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 (7.9%) is Gaming (+0.91); PC3 (7.7%) is Other (+0.87).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PCs explain ~72%, 5 PCs ~87%.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PC1 for segmentation, add gaming offers for high-PC2 users.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2: Engagement clusters (k-means, k=3)</a:t>
            </a:r>
            <a:endParaRPr lang="en-US" sz="2600" dirty="0"/>
          </a:p>
        </p:txBody>
      </p:sp>
      <p:pic>
        <p:nvPicPr>
          <p:cNvPr id="3" name="Image 0" descr="/tmp/work/charts/11_engagement_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26" y="960120"/>
            <a:ext cx="8343948" cy="1920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306324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3136392"/>
            <a:ext cx="23774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4159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engagement (81,163 users) = 54.5% of traffic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91840" y="306324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83280" y="3136392"/>
            <a:ext cx="23774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5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20%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364159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(21,645 users) = 33% of traffic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26480" y="3063240"/>
            <a:ext cx="2560320" cy="1051560"/>
          </a:xfrm>
          <a:prstGeom prst="roundRect">
            <a:avLst>
              <a:gd name="adj" fmla="val 869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3136392"/>
            <a:ext cx="237744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FA3B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364159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(4,048 users) = 12.5% of traffic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group: 4.3 sessions and about 2.1 GB per user vs 1.0 session and 0.46 GB for the low group.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2: Most used applications &amp; optimal k</a:t>
            </a:r>
            <a:endParaRPr lang="en-US" sz="2600" dirty="0"/>
          </a:p>
        </p:txBody>
      </p:sp>
      <p:pic>
        <p:nvPicPr>
          <p:cNvPr id="3" name="Image 0" descr="/tmp/work/charts/12_top_ap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011" y="960120"/>
            <a:ext cx="5060138" cy="1828800"/>
          </a:xfrm>
          <a:prstGeom prst="rect">
            <a:avLst/>
          </a:prstGeom>
        </p:spPr>
      </p:pic>
      <p:pic>
        <p:nvPicPr>
          <p:cNvPr id="4" name="Image 1" descr="/tmp/work/charts/13_elb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887743"/>
            <a:ext cx="5120640" cy="17225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760720" y="109728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 (58.3 TB) and Other (58.2 TB) are 96.6% of app traffic. Top 3 named apps: Gaming, YouTube, Netflix.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 confirms k = 3 clusters.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app volumes exceed session totals, so treat absolute app numbers carefully.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3: Experience by handset</a:t>
            </a:r>
            <a:endParaRPr lang="en-US" sz="2600" dirty="0"/>
          </a:p>
        </p:txBody>
      </p:sp>
      <p:pic>
        <p:nvPicPr>
          <p:cNvPr id="3" name="Image 0" descr="/tmp/work/charts/14_throughput_per_hand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217290"/>
            <a:ext cx="4480560" cy="2411740"/>
          </a:xfrm>
          <a:prstGeom prst="rect">
            <a:avLst/>
          </a:prstGeom>
        </p:spPr>
      </p:pic>
      <p:pic>
        <p:nvPicPr>
          <p:cNvPr id="4" name="Image 1" descr="/tmp/work/charts/15_tcp_per_hands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00075"/>
            <a:ext cx="4114800" cy="224617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4023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Huawei routers (E5573, E5180, B528S) reach 25-32 Mbps average throughput; iPhone 4/4S, ZTE MF259 and Galaxy J5 are far slower.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TCP retransmission: iPhone 6S/7 and Galaxy J5 (~17M bytes per user).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3: Experience clusters (k = 3)</a:t>
            </a:r>
            <a:endParaRPr lang="en-US" sz="2600" dirty="0"/>
          </a:p>
        </p:txBody>
      </p:sp>
      <p:pic>
        <p:nvPicPr>
          <p:cNvPr id="3" name="Image 0" descr="/tmp/work/charts/16_experience_clust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81" y="960120"/>
            <a:ext cx="7922239" cy="1828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3063240"/>
            <a:ext cx="292608" cy="292608"/>
          </a:xfrm>
          <a:prstGeom prst="ellipse">
            <a:avLst/>
          </a:prstGeom>
          <a:solidFill>
            <a:srgbClr val="E8573A"/>
          </a:solidFill>
          <a:ln w="12700">
            <a:solidFill>
              <a:srgbClr val="E8573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87552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Poor: 6.4% (6,886)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349300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RTT about 228 ms, 3x the others. Laggy for browsing and gaming. Highest churn risk.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83280" y="3063240"/>
            <a:ext cx="292608" cy="292608"/>
          </a:xfrm>
          <a:prstGeom prst="ellipse">
            <a:avLst/>
          </a:prstGeom>
          <a:solidFill>
            <a:srgbClr val="F5B041"/>
          </a:solidFill>
          <a:ln w="12700">
            <a:solidFill>
              <a:srgbClr val="F5B0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76472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Average: 60.7% (64,824)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349300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RTT (72 ms) but low throughput (1.8 Mbps) and high retransmission. Biggest upgrade chance.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035040" y="29260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172200" y="3063240"/>
            <a:ext cx="292608" cy="29260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65392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Good: 32.9% (35,146)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172200" y="3493008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about 26 Mbps with low retransmission. Mostly routers and flagship phones.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4: Engagement, experience &amp; satisfaction scores</a:t>
            </a:r>
            <a:endParaRPr lang="en-US" sz="2600" dirty="0"/>
          </a:p>
        </p:txBody>
      </p:sp>
      <p:pic>
        <p:nvPicPr>
          <p:cNvPr id="3" name="Image 0" descr="/tmp/work/charts/17_score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970" y="960120"/>
            <a:ext cx="7704061" cy="2103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score = distance to the least-engaged cluster centre; experience score = distance to the worst-experience cluster centre.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scaled to 0-1, then averaged = satisfaction score (mean 0.19, max 0.69).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satisfied customer: 33625779332 (score 0.69). Full top-10 list is in the CSV.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4: Regression model &amp; satisfaction clusters</a:t>
            </a:r>
            <a:endParaRPr lang="en-US" sz="2600" dirty="0"/>
          </a:p>
        </p:txBody>
      </p:sp>
      <p:pic>
        <p:nvPicPr>
          <p:cNvPr id="3" name="Image 0" descr="/tmp/work/charts/18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300912"/>
            <a:ext cx="4754880" cy="1787295"/>
          </a:xfrm>
          <a:prstGeom prst="rect">
            <a:avLst/>
          </a:prstGeom>
        </p:spPr>
      </p:pic>
      <p:pic>
        <p:nvPicPr>
          <p:cNvPr id="4" name="Image 1" descr="/tmp/work/charts/19_sat_clust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6381" y="960120"/>
            <a:ext cx="3317558" cy="24688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56616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R2 = 0.76; Random Forest R2 = 0.99, RMSE 0.0047.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 R2 is expected: the score is built from these same inputs, so it shows consistency, not real-world prediction.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k=2: cluster 0 = 60,431 users (satisfaction 0.219, experience 3.74); cluster 1 = 46,425 users (0.147, 2.43).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Task 4: SQL Server export &amp; model tracking</a:t>
            </a:r>
            <a:endParaRPr lang="en-US" sz="2600" dirty="0"/>
          </a:p>
        </p:txBody>
      </p:sp>
      <p:pic>
        <p:nvPicPr>
          <p:cNvPr id="3" name="Image 0" descr="/tmp/work/charts/20_sql_select_outp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62606"/>
            <a:ext cx="5120640" cy="1623827"/>
          </a:xfrm>
          <a:prstGeom prst="rect">
            <a:avLst/>
          </a:prstGeom>
        </p:spPr>
      </p:pic>
      <p:pic>
        <p:nvPicPr>
          <p:cNvPr id="4" name="Image 1" descr="/tmp/work/charts/21_loss_converg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004011"/>
            <a:ext cx="3108960" cy="174101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57200" y="30175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594360" y="3154680"/>
            <a:ext cx="292608" cy="292608"/>
          </a:xfrm>
          <a:prstGeom prst="ellipse">
            <a:avLst/>
          </a:prstGeom>
          <a:solidFill>
            <a:srgbClr val="0FA3B1"/>
          </a:solidFill>
          <a:ln w="12700">
            <a:solidFill>
              <a:srgbClr val="0FA3B1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87552" y="31089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Server export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94360" y="3584448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script writes table user_satisfaction to database telecom_db on .\SQLEXPRESS (Windows login, ODBC Driver 17). The output above is a SELECT TOP 10 test on a local copy; re-run on the SQL Server PC for the final screenshot.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709160" y="30175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46320" y="3154680"/>
            <a:ext cx="292608" cy="292608"/>
          </a:xfrm>
          <a:prstGeom prst="ellipse">
            <a:avLst/>
          </a:prstGeom>
          <a:solidFill>
            <a:srgbClr val="E8573A"/>
          </a:solidFill>
          <a:ln w="12700">
            <a:solidFill>
              <a:srgbClr val="E8573A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239512" y="3108960"/>
            <a:ext cx="3337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tracking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3584448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logs code version, start/end time, source, parameters, metrics and the saved model to model_tracking.csv (and MLflow if installed).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Recommendation: buy, with conditions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potential: positive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6335C"/>
          </a:solidFill>
          <a:ln w="12700">
            <a:solidFill>
              <a:srgbClr val="1633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Upsell the base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9385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 of users are low-engagement (about 1 session/month). Moving them to the medium cluster adds data volume.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46304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6335C"/>
          </a:solidFill>
          <a:ln w="12700">
            <a:solidFill>
              <a:srgbClr val="1633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554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Fixed-wireless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46320" y="19385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routers are the #1 device and the fastest. Push home-internet plans.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6335C"/>
          </a:solidFill>
          <a:ln w="12700">
            <a:solidFill>
              <a:srgbClr val="1633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the network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015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6.4% of users have poor latency, 60% have slow throughput. Targeted upgrades reduce churn.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023360" cy="1280160"/>
          </a:xfrm>
          <a:prstGeom prst="roundRect">
            <a:avLst>
              <a:gd name="adj" fmla="val 7143"/>
            </a:avLst>
          </a:prstGeom>
          <a:solidFill>
            <a:srgbClr val="16335C"/>
          </a:solidFill>
          <a:ln w="12700">
            <a:solidFill>
              <a:srgbClr val="1633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Video &amp; gaming bundles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340156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Gaming, YouTube and Netflix dominate traffic: sell passes for them.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B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Condition: confirm revenue, ARPU and churn data (not in this dataset) before the final offer.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of this analysis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month of data: no trend, seasonality or churn can be measured.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revenue, ARPU, cost or subscriber-status data, so profitability is inferred from usage only.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volumes do not reconcile with Total DL+UL (about 1.85x higher); Gaming and Other look unusually large.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59-64% of TCP values are missing; mean imputation hides variation and creates a spike.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outliers with the mean removes genuine heavy users from some charts.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 is a constructed index, not a survey; the regression R2 is inflated by design.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users have more than 1-2 sessions, so per-user behaviour is thin.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Deliverables &amp; references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TellCo_Analysis.ipynb: full Python code with all charts inside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TellCo_Project_Report.pdf: problem, solution, method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table: telecom_db.user_satisfaction on .\SQLEXPRESS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telcom_data.xlsx and Field_Descriptions.xlsx (Nexthikes IT Solutions)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Python, pandas, scikit-learn, seaborn, SQL Server Express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TellCo - User Analytics</dc:title>
  <dc:subject>PptxGenJS Presentation</dc:subject>
  <dc:creator>PptxGenJS</dc:creator>
  <cp:lastModifiedBy>PptxGenJS</cp:lastModifiedBy>
  <cp:revision>1</cp:revision>
  <dcterms:created xsi:type="dcterms:W3CDTF">2026-10-01T11:15:51Z</dcterms:created>
  <dcterms:modified xsi:type="dcterms:W3CDTF">2026-10-01T11:15:51Z</dcterms:modified>
</cp:coreProperties>
</file>